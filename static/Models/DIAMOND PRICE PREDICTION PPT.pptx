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7" r:id="rId6"/>
    <p:sldId id="268" r:id="rId7"/>
    <p:sldId id="292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</p:sldIdLst>
  <p:sldSz cx="18288000" cy="10287000"/>
  <p:notesSz cx="6858000" cy="9144000"/>
  <p:embeddedFontLst>
    <p:embeddedFont>
      <p:font typeface="Cambria" panose="02040503050406030204" pitchFamily="18" charset="0"/>
      <p:regular r:id="rId23"/>
      <p:bold r:id="rId24"/>
      <p:italic r:id="rId25"/>
      <p:boldItalic r:id="rId26"/>
    </p:embeddedFont>
    <p:embeddedFont>
      <p:font typeface="Times New Roman Bold" panose="02020803070505020304" pitchFamily="18" charset="0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4091936" y="9444182"/>
            <a:ext cx="3167364" cy="481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>
                <a:solidFill>
                  <a:srgbClr val="125B50"/>
                </a:solidFill>
                <a:latin typeface="Agrandir Wide Thin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17682" y="1831809"/>
            <a:ext cx="10160517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 dirty="0">
                <a:solidFill>
                  <a:srgbClr val="000000"/>
                </a:solidFill>
                <a:latin typeface="Times New Roman Bold"/>
              </a:rPr>
              <a:t>Diamond Price Prediction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53674" y="5599430"/>
            <a:ext cx="15315126" cy="4687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2800" dirty="0">
                <a:solidFill>
                  <a:srgbClr val="000000"/>
                </a:solidFill>
                <a:latin typeface="Times New Roman Bold"/>
              </a:rPr>
              <a:t>Presented by:</a:t>
            </a:r>
          </a:p>
          <a:p>
            <a:pPr algn="ctr">
              <a:lnSpc>
                <a:spcPts val="7279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 Bold"/>
            </a:endParaRPr>
          </a:p>
          <a:p>
            <a:pPr algn="ctr">
              <a:lnSpc>
                <a:spcPts val="7279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 Bold"/>
            </a:endParaRPr>
          </a:p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2800" dirty="0">
                <a:solidFill>
                  <a:srgbClr val="000000"/>
                </a:solidFill>
                <a:latin typeface="Times New Roman Bold"/>
              </a:rPr>
              <a:t>Under the Guidance of:</a:t>
            </a:r>
          </a:p>
          <a:p>
            <a:pPr algn="ctr">
              <a:lnSpc>
                <a:spcPts val="7279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2599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0078" y="337820"/>
            <a:ext cx="5291521" cy="12182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519"/>
              </a:lnSpc>
              <a:spcBef>
                <a:spcPct val="0"/>
              </a:spcBef>
            </a:pPr>
            <a:r>
              <a:rPr lang="en-US" sz="6799" dirty="0">
                <a:solidFill>
                  <a:srgbClr val="000000"/>
                </a:solidFill>
                <a:latin typeface="Times New Roman Bold"/>
              </a:rPr>
              <a:t>Agenda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91623" y="1460501"/>
            <a:ext cx="10325338" cy="6092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Abstract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Technologies Learnt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System Requirements and Specifications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System Design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Implementation</a:t>
            </a:r>
          </a:p>
          <a:p>
            <a:pPr marL="928369" lvl="1" indent="-464185">
              <a:lnSpc>
                <a:spcPts val="6019"/>
              </a:lnSpc>
              <a:buFont typeface="Arial"/>
              <a:buChar char="•"/>
            </a:pPr>
            <a:r>
              <a:rPr lang="en-US" sz="4299" dirty="0">
                <a:solidFill>
                  <a:srgbClr val="000000"/>
                </a:solidFill>
                <a:latin typeface="Times New Roman"/>
              </a:rPr>
              <a:t>Conclusion</a:t>
            </a:r>
          </a:p>
          <a:p>
            <a:pPr>
              <a:lnSpc>
                <a:spcPts val="6019"/>
              </a:lnSpc>
            </a:pPr>
            <a:endParaRPr lang="en-US" sz="4299" dirty="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91946" y="828675"/>
            <a:ext cx="6716520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>
                <a:solidFill>
                  <a:srgbClr val="000000"/>
                </a:solidFill>
                <a:latin typeface="Times New Roman Bold"/>
              </a:rPr>
              <a:t>ABSTRACT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28937" y="2049671"/>
            <a:ext cx="16491440" cy="7555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27" lvl="1" indent="-410214" algn="just">
              <a:lnSpc>
                <a:spcPts val="5966"/>
              </a:lnSpc>
              <a:buFont typeface="Arial"/>
              <a:buChar char="•"/>
            </a:pPr>
            <a:r>
              <a:rPr lang="en-US" sz="3800">
                <a:solidFill>
                  <a:srgbClr val="000000"/>
                </a:solidFill>
                <a:latin typeface="Times New Roman"/>
              </a:rPr>
              <a:t>Predicting diamond prices accurately is crucial in various industries, including jewellery retail, diamond trading, and investment analysis.</a:t>
            </a:r>
          </a:p>
          <a:p>
            <a:pPr marL="820427" lvl="1" indent="-410214" algn="just">
              <a:lnSpc>
                <a:spcPts val="5966"/>
              </a:lnSpc>
              <a:buFont typeface="Arial"/>
              <a:buChar char="•"/>
            </a:pPr>
            <a:r>
              <a:rPr lang="en-US" sz="3800">
                <a:solidFill>
                  <a:srgbClr val="000000"/>
                </a:solidFill>
                <a:latin typeface="Times New Roman"/>
              </a:rPr>
              <a:t>Traditional methods of price estimation often rely on subjective assessments by experts and historical market trends. </a:t>
            </a:r>
          </a:p>
          <a:p>
            <a:pPr marL="820427" lvl="1" indent="-410214" algn="just">
              <a:lnSpc>
                <a:spcPts val="5966"/>
              </a:lnSpc>
              <a:buFont typeface="Arial"/>
              <a:buChar char="•"/>
            </a:pPr>
            <a:r>
              <a:rPr lang="en-US" sz="3800">
                <a:solidFill>
                  <a:srgbClr val="000000"/>
                </a:solidFill>
                <a:latin typeface="Times New Roman"/>
              </a:rPr>
              <a:t>Diamond price prediction is crucial for various stakeholders in the diamond industry as it facilitates informed decision-making, risk mitigation, and market efficiency.</a:t>
            </a:r>
          </a:p>
          <a:p>
            <a:pPr marL="820427" lvl="1" indent="-410214" algn="just">
              <a:lnSpc>
                <a:spcPts val="5966"/>
              </a:lnSpc>
              <a:buFont typeface="Arial"/>
              <a:buChar char="•"/>
            </a:pPr>
            <a:r>
              <a:rPr lang="en-US" sz="3800">
                <a:solidFill>
                  <a:srgbClr val="000000"/>
                </a:solidFill>
                <a:latin typeface="Times New Roman"/>
              </a:rPr>
              <a:t>Accurately forecasting diamond prices, retailers can optimize inventory management, ensuring they stock the right diamonds at the right prices to meet customer demand while minimizing costs.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246104" y="828675"/>
            <a:ext cx="9677023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Times New Roman Bold"/>
              </a:rPr>
              <a:t>INTRODUCTION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15619" y="1851192"/>
            <a:ext cx="16230600" cy="7813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606" lvl="1" indent="-431803" algn="just">
              <a:lnSpc>
                <a:spcPts val="5600"/>
              </a:lnSpc>
              <a:buFont typeface="Arial"/>
              <a:buChar char="•"/>
            </a:pPr>
            <a:r>
              <a:rPr lang="en-US" sz="4000">
                <a:solidFill>
                  <a:srgbClr val="000000"/>
                </a:solidFill>
                <a:latin typeface="Times New Roman"/>
              </a:rPr>
              <a:t>Diamond price prediction involves forecasting the future prices of diamonds based on various factors such as carat weight, cut quality, clarity, color grade, and market trends. </a:t>
            </a:r>
          </a:p>
          <a:p>
            <a:pPr marL="863606" lvl="1" indent="-431803" algn="just">
              <a:lnSpc>
                <a:spcPts val="5600"/>
              </a:lnSpc>
              <a:buFont typeface="Arial"/>
              <a:buChar char="•"/>
            </a:pPr>
            <a:r>
              <a:rPr lang="en-US" sz="4000">
                <a:solidFill>
                  <a:srgbClr val="000000"/>
                </a:solidFill>
                <a:latin typeface="Times New Roman"/>
              </a:rPr>
              <a:t>It is a critical task in the diamond industry as it enables stakeholders to make informed decisions regarding inventory management, pricing strategies, risk mitigation, and investment analysis.</a:t>
            </a:r>
          </a:p>
          <a:p>
            <a:pPr marL="863606" lvl="1" indent="-431803" algn="just">
              <a:lnSpc>
                <a:spcPts val="5600"/>
              </a:lnSpc>
              <a:buFont typeface="Arial"/>
              <a:buChar char="•"/>
            </a:pPr>
            <a:r>
              <a:rPr lang="en-US" sz="4000">
                <a:solidFill>
                  <a:srgbClr val="000000"/>
                </a:solidFill>
                <a:latin typeface="Times New Roman"/>
              </a:rPr>
              <a:t>To predict diamond prices, machine learning algorithms are often employed due to their ability to analyze large datasets and identify complex patterns. </a:t>
            </a:r>
          </a:p>
          <a:p>
            <a:pPr marL="863606" lvl="1" indent="-431803" algn="just">
              <a:lnSpc>
                <a:spcPts val="5600"/>
              </a:lnSpc>
              <a:buFont typeface="Arial"/>
              <a:buChar char="•"/>
            </a:pPr>
            <a:r>
              <a:rPr lang="en-US" sz="4000">
                <a:solidFill>
                  <a:srgbClr val="000000"/>
                </a:solidFill>
                <a:latin typeface="Times New Roman"/>
              </a:rPr>
              <a:t>Algorithms utilize historical price data and diamond attributes to train predictive models, which can then be used to forecast future prices.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594740" y="828675"/>
            <a:ext cx="8483561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>
                <a:solidFill>
                  <a:srgbClr val="000000"/>
                </a:solidFill>
                <a:latin typeface="Times New Roman Bold"/>
              </a:rPr>
              <a:t>TECHNOLOGIES LEARNT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94740" y="2374207"/>
            <a:ext cx="6813947" cy="352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440"/>
              </a:lnSpc>
              <a:spcBef>
                <a:spcPct val="0"/>
              </a:spcBef>
            </a:pPr>
            <a:r>
              <a:rPr lang="en-US" sz="4600">
                <a:solidFill>
                  <a:srgbClr val="000000"/>
                </a:solidFill>
                <a:latin typeface="Times New Roman Bold"/>
              </a:rPr>
              <a:t>SOFTWARE TOOL</a:t>
            </a:r>
          </a:p>
          <a:p>
            <a:pPr marL="1079501" lvl="1" indent="-539750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000000"/>
                </a:solidFill>
                <a:latin typeface="Times New Roman"/>
              </a:rPr>
              <a:t>Anaconda Navigator</a:t>
            </a:r>
          </a:p>
          <a:p>
            <a:pPr marL="1079501" lvl="1" indent="-539750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000000"/>
                </a:solidFill>
                <a:latin typeface="Times New Roman"/>
              </a:rPr>
              <a:t>Jupyter Notebook</a:t>
            </a:r>
          </a:p>
          <a:p>
            <a:pPr>
              <a:lnSpc>
                <a:spcPts val="7000"/>
              </a:lnSpc>
              <a:spcBef>
                <a:spcPct val="0"/>
              </a:spcBef>
            </a:pPr>
            <a:endParaRPr lang="en-US" sz="500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9659923" y="2364682"/>
            <a:ext cx="6806208" cy="5266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Python Programming</a:t>
            </a:r>
          </a:p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Numpy</a:t>
            </a:r>
          </a:p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Pandas</a:t>
            </a:r>
          </a:p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Matplotlib</a:t>
            </a:r>
          </a:p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Seaborn</a:t>
            </a:r>
          </a:p>
          <a:p>
            <a:pPr marL="1057911" lvl="1" indent="-528956">
              <a:lnSpc>
                <a:spcPts val="6860"/>
              </a:lnSpc>
              <a:buFont typeface="Arial"/>
              <a:buChar char="•"/>
            </a:pPr>
            <a:r>
              <a:rPr lang="en-US" sz="4900">
                <a:solidFill>
                  <a:srgbClr val="000000"/>
                </a:solidFill>
                <a:latin typeface="Times New Roman"/>
              </a:rPr>
              <a:t>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742402" y="847725"/>
            <a:ext cx="13962341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>
                <a:solidFill>
                  <a:srgbClr val="000000"/>
                </a:solidFill>
                <a:latin typeface="Times New Roman Bold"/>
              </a:rPr>
              <a:t>SYSTEM REQUIREMENTS AND SPECIFICATIONS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75067" y="2025408"/>
            <a:ext cx="16712933" cy="7847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60"/>
              </a:lnSpc>
              <a:spcBef>
                <a:spcPct val="0"/>
              </a:spcBef>
            </a:pPr>
            <a:r>
              <a:rPr lang="en-US" sz="3400">
                <a:solidFill>
                  <a:srgbClr val="000000"/>
                </a:solidFill>
                <a:latin typeface="Times New Roman Bold"/>
              </a:rPr>
              <a:t>Software Requirements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Scripting language      :  Python Programming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Scripting Tool             :  Anaconda Navigator (Jupiter Notebook) &amp; Google Collab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Operating System       :  Microsoft Windows 8/10/11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Dataset                        :  Diamond Price Dataset.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Packages                      :  NumPy, Pandas, Matplotlib, Seaborn etc.                                                             </a:t>
            </a:r>
          </a:p>
          <a:p>
            <a:pPr>
              <a:lnSpc>
                <a:spcPts val="4760"/>
              </a:lnSpc>
              <a:spcBef>
                <a:spcPct val="0"/>
              </a:spcBef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     </a:t>
            </a:r>
          </a:p>
          <a:p>
            <a:pPr>
              <a:lnSpc>
                <a:spcPts val="4760"/>
              </a:lnSpc>
              <a:spcBef>
                <a:spcPct val="0"/>
              </a:spcBef>
            </a:pPr>
            <a:r>
              <a:rPr lang="en-US" sz="3400">
                <a:solidFill>
                  <a:srgbClr val="000000"/>
                </a:solidFill>
                <a:latin typeface="Times New Roman Bold"/>
              </a:rPr>
              <a:t>Hardware Requirements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Processor                     : 3.0 GHz and Above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Output Devices           : Monitor (LCD)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Input Devices              : Keyboard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Hard Disk                    : 1 TB</a:t>
            </a:r>
          </a:p>
          <a:p>
            <a:pPr marL="734069" lvl="1" indent="-367035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000000"/>
                </a:solidFill>
                <a:latin typeface="Times New Roman"/>
              </a:rPr>
              <a:t>RAM                            : 8GB or Above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lowchart: Magnetic Disk 33"/>
          <p:cNvSpPr/>
          <p:nvPr/>
        </p:nvSpPr>
        <p:spPr>
          <a:xfrm>
            <a:off x="3229560" y="1241894"/>
            <a:ext cx="2281170" cy="1470792"/>
          </a:xfrm>
          <a:prstGeom prst="flowChartMagneticDisk">
            <a:avLst/>
          </a:prstGeom>
          <a:solidFill>
            <a:srgbClr val="002060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Diamond dataset</a:t>
            </a:r>
            <a:endParaRPr lang="en-IN" sz="165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611957" y="2949086"/>
            <a:ext cx="3461960" cy="555486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endParaRPr 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endParaRPr 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endParaRPr 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en-IN" sz="2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2947913" y="3441013"/>
            <a:ext cx="2940110" cy="69230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Data Preprocessing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00090" y="4879415"/>
            <a:ext cx="2940111" cy="108582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100" b="1" dirty="0">
                <a:latin typeface="Cambria" panose="02040503050406030204" pitchFamily="18" charset="0"/>
                <a:ea typeface="Cambria" panose="02040503050406030204" pitchFamily="18" charset="0"/>
              </a:rPr>
              <a:t>Missing Data Handling</a:t>
            </a:r>
            <a:endParaRPr lang="en-IN" sz="21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9654353" y="734520"/>
            <a:ext cx="5733558" cy="5891814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7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7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7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7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7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endParaRPr lang="en-IN" sz="27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Flowchart: Magnetic Disk 39"/>
          <p:cNvSpPr/>
          <p:nvPr/>
        </p:nvSpPr>
        <p:spPr>
          <a:xfrm>
            <a:off x="12148641" y="1310036"/>
            <a:ext cx="1188132" cy="729081"/>
          </a:xfrm>
          <a:prstGeom prst="flowChartMagneticDisk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Data</a:t>
            </a:r>
            <a:endParaRPr lang="en-IN" sz="24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0744485" y="2192883"/>
            <a:ext cx="1404156" cy="56706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Train</a:t>
            </a:r>
            <a:endParaRPr lang="en-IN" sz="24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3139688" y="2192883"/>
            <a:ext cx="1404156" cy="56706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Test</a:t>
            </a:r>
            <a:endParaRPr lang="en-IN" sz="24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99794" y="3417762"/>
            <a:ext cx="4789028" cy="105162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Model Deployment</a:t>
            </a:r>
          </a:p>
          <a:p>
            <a:pPr algn="ctr"/>
            <a:r>
              <a:rPr lang="en-IN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Random Forest, SVM , SVM, Decision Tree and LR</a:t>
            </a:r>
            <a:endParaRPr lang="en-US" b="1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899792" y="4906687"/>
            <a:ext cx="3060839" cy="81983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Model Evaluation</a:t>
            </a:r>
          </a:p>
        </p:txBody>
      </p:sp>
      <p:cxnSp>
        <p:nvCxnSpPr>
          <p:cNvPr id="45" name="Elbow Connector 44"/>
          <p:cNvCxnSpPr>
            <a:stCxn id="40" idx="2"/>
            <a:endCxn id="41" idx="0"/>
          </p:cNvCxnSpPr>
          <p:nvPr/>
        </p:nvCxnSpPr>
        <p:spPr>
          <a:xfrm rot="10800000" flipV="1">
            <a:off x="11446563" y="1674577"/>
            <a:ext cx="702078" cy="518309"/>
          </a:xfrm>
          <a:prstGeom prst="bentConnector2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/>
          <p:cNvCxnSpPr>
            <a:cxnSpLocks/>
          </p:cNvCxnSpPr>
          <p:nvPr/>
        </p:nvCxnSpPr>
        <p:spPr>
          <a:xfrm rot="16200000" flipH="1">
            <a:off x="13401659" y="1609692"/>
            <a:ext cx="518309" cy="648072"/>
          </a:xfrm>
          <a:prstGeom prst="bentConnector3">
            <a:avLst>
              <a:gd name="adj1" fmla="val 1982"/>
            </a:avLst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41" idx="2"/>
          </p:cNvCxnSpPr>
          <p:nvPr/>
        </p:nvCxnSpPr>
        <p:spPr>
          <a:xfrm>
            <a:off x="11446563" y="2759948"/>
            <a:ext cx="0" cy="657815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11446563" y="4379896"/>
            <a:ext cx="16353" cy="657815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/>
          <p:cNvCxnSpPr>
            <a:stCxn id="42" idx="3"/>
            <a:endCxn id="44" idx="3"/>
          </p:cNvCxnSpPr>
          <p:nvPr/>
        </p:nvCxnSpPr>
        <p:spPr>
          <a:xfrm flipH="1">
            <a:off x="12960627" y="2476415"/>
            <a:ext cx="1583217" cy="2840187"/>
          </a:xfrm>
          <a:prstGeom prst="bentConnector3">
            <a:avLst>
              <a:gd name="adj1" fmla="val -21658"/>
            </a:avLst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cxnSpLocks/>
          </p:cNvCxnSpPr>
          <p:nvPr/>
        </p:nvCxnSpPr>
        <p:spPr>
          <a:xfrm flipH="1">
            <a:off x="12960631" y="6386921"/>
            <a:ext cx="2" cy="534764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0114662" y="6865746"/>
            <a:ext cx="5166045" cy="113619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Prediction of Diamond Price Prediction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4299682" y="2598454"/>
            <a:ext cx="331349" cy="104302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39864" y="725939"/>
            <a:ext cx="40039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Machine Learning Algorithms 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79909" y="3978493"/>
            <a:ext cx="2838650" cy="2408429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Feature</a:t>
            </a:r>
          </a:p>
          <a:p>
            <a:pPr algn="ctr"/>
            <a:r>
              <a:rPr lang="en-US" sz="21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Extraction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5719553" y="5182706"/>
            <a:ext cx="858519" cy="3289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Right Arrow 55"/>
          <p:cNvSpPr/>
          <p:nvPr/>
        </p:nvSpPr>
        <p:spPr>
          <a:xfrm>
            <a:off x="8856173" y="5063552"/>
            <a:ext cx="778877" cy="4226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Down Arrow 59"/>
          <p:cNvSpPr/>
          <p:nvPr/>
        </p:nvSpPr>
        <p:spPr>
          <a:xfrm>
            <a:off x="4251575" y="4172989"/>
            <a:ext cx="427563" cy="6923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07B75B7-35C4-3779-8810-DB9F065F008B}"/>
              </a:ext>
            </a:extLst>
          </p:cNvPr>
          <p:cNvSpPr txBox="1">
            <a:spLocks/>
          </p:cNvSpPr>
          <p:nvPr/>
        </p:nvSpPr>
        <p:spPr>
          <a:xfrm>
            <a:off x="4856007" y="-27019"/>
            <a:ext cx="15773400" cy="19883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6600" b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System Design</a:t>
            </a:r>
            <a:br>
              <a:rPr lang="en-GB" sz="7200" b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6600" dirty="0"/>
          </a:p>
        </p:txBody>
      </p:sp>
    </p:spTree>
    <p:extLst>
      <p:ext uri="{BB962C8B-B14F-4D97-AF65-F5344CB8AC3E}">
        <p14:creationId xmlns:p14="http://schemas.microsoft.com/office/powerpoint/2010/main" val="1694932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175921" y="3179003"/>
            <a:ext cx="11726744" cy="4594313"/>
          </a:xfrm>
          <a:custGeom>
            <a:avLst/>
            <a:gdLst/>
            <a:ahLst/>
            <a:cxnLst/>
            <a:rect l="l" t="t" r="r" b="b"/>
            <a:pathLst>
              <a:path w="11726744" h="4594313">
                <a:moveTo>
                  <a:pt x="0" y="0"/>
                </a:moveTo>
                <a:lnTo>
                  <a:pt x="11726744" y="0"/>
                </a:lnTo>
                <a:lnTo>
                  <a:pt x="11726744" y="4594314"/>
                </a:lnTo>
                <a:lnTo>
                  <a:pt x="0" y="45943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328937" y="828675"/>
            <a:ext cx="10147853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>
                <a:solidFill>
                  <a:srgbClr val="000000"/>
                </a:solidFill>
                <a:latin typeface="Times New Roman Bold"/>
              </a:rPr>
              <a:t>SYSTEM IMPLEMENTATION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948374"/>
            <a:ext cx="6909316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Importing the libraries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55631" y="8098688"/>
            <a:ext cx="5419725" cy="68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Importing Packages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672237" y="1942826"/>
            <a:ext cx="12093871" cy="5985074"/>
          </a:xfrm>
          <a:custGeom>
            <a:avLst/>
            <a:gdLst/>
            <a:ahLst/>
            <a:cxnLst/>
            <a:rect l="l" t="t" r="r" b="b"/>
            <a:pathLst>
              <a:path w="12093871" h="5985074">
                <a:moveTo>
                  <a:pt x="0" y="0"/>
                </a:moveTo>
                <a:lnTo>
                  <a:pt x="12093871" y="0"/>
                </a:lnTo>
                <a:lnTo>
                  <a:pt x="12093871" y="5985075"/>
                </a:lnTo>
                <a:lnTo>
                  <a:pt x="0" y="5985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5392579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Reading Dataset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48306" y="8103977"/>
            <a:ext cx="5391388" cy="689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Loading the dataset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132674" y="3295534"/>
            <a:ext cx="5235119" cy="5346167"/>
          </a:xfrm>
          <a:custGeom>
            <a:avLst/>
            <a:gdLst/>
            <a:ahLst/>
            <a:cxnLst/>
            <a:rect l="l" t="t" r="r" b="b"/>
            <a:pathLst>
              <a:path w="5235119" h="5346167">
                <a:moveTo>
                  <a:pt x="0" y="0"/>
                </a:moveTo>
                <a:lnTo>
                  <a:pt x="5235119" y="0"/>
                </a:lnTo>
                <a:lnTo>
                  <a:pt x="5235119" y="5346167"/>
                </a:lnTo>
                <a:lnTo>
                  <a:pt x="0" y="53461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6293525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Data Pre-processing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18045" y="2016644"/>
            <a:ext cx="5875020" cy="840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4" lvl="1" indent="-474982" algn="ctr">
              <a:lnSpc>
                <a:spcPts val="6160"/>
              </a:lnSpc>
              <a:buAutoNum type="arabicPeriod"/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Checking null values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056267" y="2146799"/>
            <a:ext cx="12804490" cy="5492365"/>
          </a:xfrm>
          <a:custGeom>
            <a:avLst/>
            <a:gdLst/>
            <a:ahLst/>
            <a:cxnLst/>
            <a:rect l="l" t="t" r="r" b="b"/>
            <a:pathLst>
              <a:path w="12804490" h="5492365">
                <a:moveTo>
                  <a:pt x="0" y="0"/>
                </a:moveTo>
                <a:lnTo>
                  <a:pt x="12804490" y="0"/>
                </a:lnTo>
                <a:lnTo>
                  <a:pt x="12804490" y="5492365"/>
                </a:lnTo>
                <a:lnTo>
                  <a:pt x="0" y="549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682115" y="857250"/>
            <a:ext cx="7461885" cy="840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2. Dropping irrelevant columns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246966" y="2383085"/>
            <a:ext cx="14450546" cy="5526307"/>
          </a:xfrm>
          <a:custGeom>
            <a:avLst/>
            <a:gdLst/>
            <a:ahLst/>
            <a:cxnLst/>
            <a:rect l="l" t="t" r="r" b="b"/>
            <a:pathLst>
              <a:path w="14450546" h="5526307">
                <a:moveTo>
                  <a:pt x="0" y="0"/>
                </a:moveTo>
                <a:lnTo>
                  <a:pt x="14450546" y="0"/>
                </a:lnTo>
                <a:lnTo>
                  <a:pt x="14450546" y="5526307"/>
                </a:lnTo>
                <a:lnTo>
                  <a:pt x="0" y="55263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778835" y="857250"/>
            <a:ext cx="4197072" cy="840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3. Data Encoding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551388" y="2151184"/>
            <a:ext cx="14517759" cy="5220215"/>
          </a:xfrm>
          <a:custGeom>
            <a:avLst/>
            <a:gdLst/>
            <a:ahLst/>
            <a:cxnLst/>
            <a:rect l="l" t="t" r="r" b="b"/>
            <a:pathLst>
              <a:path w="14517759" h="5220215">
                <a:moveTo>
                  <a:pt x="0" y="0"/>
                </a:moveTo>
                <a:lnTo>
                  <a:pt x="14517759" y="0"/>
                </a:lnTo>
                <a:lnTo>
                  <a:pt x="14517759" y="5220215"/>
                </a:lnTo>
                <a:lnTo>
                  <a:pt x="0" y="52202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69415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0" lvl="1" indent="-518160" algn="ctr">
              <a:lnSpc>
                <a:spcPts val="6719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Statistical Description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90795" y="8139799"/>
            <a:ext cx="5838944" cy="68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Statistical Description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907612" y="2747822"/>
            <a:ext cx="11073915" cy="7304071"/>
          </a:xfrm>
          <a:custGeom>
            <a:avLst/>
            <a:gdLst/>
            <a:ahLst/>
            <a:cxnLst/>
            <a:rect l="l" t="t" r="r" b="b"/>
            <a:pathLst>
              <a:path w="11073915" h="7304071">
                <a:moveTo>
                  <a:pt x="0" y="0"/>
                </a:moveTo>
                <a:lnTo>
                  <a:pt x="11073915" y="0"/>
                </a:lnTo>
                <a:lnTo>
                  <a:pt x="11073915" y="7304071"/>
                </a:lnTo>
                <a:lnTo>
                  <a:pt x="0" y="7304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28675"/>
            <a:ext cx="10806708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22679" lvl="1" indent="-561340" algn="ctr">
              <a:lnSpc>
                <a:spcPts val="7279"/>
              </a:lnSpc>
              <a:buFont typeface="Arial"/>
              <a:buChar char="•"/>
            </a:pPr>
            <a:r>
              <a:rPr lang="en-US" sz="5199">
                <a:solidFill>
                  <a:srgbClr val="000000"/>
                </a:solidFill>
                <a:latin typeface="Times New Roman"/>
              </a:rPr>
              <a:t>Exploratory Data Analysis (EDA)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70102" y="1868982"/>
            <a:ext cx="9323904" cy="1586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28374" lvl="1" indent="-464187" algn="ctr">
              <a:lnSpc>
                <a:spcPts val="6020"/>
              </a:lnSpc>
              <a:buAutoNum type="arabicPeriod"/>
            </a:pPr>
            <a:r>
              <a:rPr lang="en-US" sz="4300">
                <a:solidFill>
                  <a:srgbClr val="000000"/>
                </a:solidFill>
                <a:latin typeface="Times New Roman"/>
              </a:rPr>
              <a:t>Price of the diamond based on color</a:t>
            </a:r>
          </a:p>
          <a:p>
            <a:pPr algn="ctr">
              <a:lnSpc>
                <a:spcPts val="6020"/>
              </a:lnSpc>
              <a:spcBef>
                <a:spcPct val="0"/>
              </a:spcBef>
            </a:pPr>
            <a:endParaRPr lang="en-US" sz="430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51079" y="1927902"/>
            <a:ext cx="14119626" cy="7750773"/>
          </a:xfrm>
          <a:custGeom>
            <a:avLst/>
            <a:gdLst/>
            <a:ahLst/>
            <a:cxnLst/>
            <a:rect l="l" t="t" r="r" b="b"/>
            <a:pathLst>
              <a:path w="14119626" h="7750773">
                <a:moveTo>
                  <a:pt x="0" y="0"/>
                </a:moveTo>
                <a:lnTo>
                  <a:pt x="14119626" y="0"/>
                </a:lnTo>
                <a:lnTo>
                  <a:pt x="14119626" y="7750774"/>
                </a:lnTo>
                <a:lnTo>
                  <a:pt x="0" y="77507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733532" y="1049062"/>
            <a:ext cx="10824449" cy="1586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>
                <a:solidFill>
                  <a:srgbClr val="000000"/>
                </a:solidFill>
                <a:latin typeface="Times New Roman"/>
              </a:rPr>
              <a:t>2. Price of the diamond based on color and cut</a:t>
            </a:r>
          </a:p>
          <a:p>
            <a:pPr algn="ctr">
              <a:lnSpc>
                <a:spcPts val="6020"/>
              </a:lnSpc>
              <a:spcBef>
                <a:spcPct val="0"/>
              </a:spcBef>
            </a:pPr>
            <a:endParaRPr lang="en-US" sz="430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422505" y="2381555"/>
            <a:ext cx="14425149" cy="7043769"/>
          </a:xfrm>
          <a:custGeom>
            <a:avLst/>
            <a:gdLst/>
            <a:ahLst/>
            <a:cxnLst/>
            <a:rect l="l" t="t" r="r" b="b"/>
            <a:pathLst>
              <a:path w="14425149" h="7043769">
                <a:moveTo>
                  <a:pt x="0" y="0"/>
                </a:moveTo>
                <a:lnTo>
                  <a:pt x="14425148" y="0"/>
                </a:lnTo>
                <a:lnTo>
                  <a:pt x="14425148" y="7043770"/>
                </a:lnTo>
                <a:lnTo>
                  <a:pt x="0" y="70437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597027" y="1049062"/>
            <a:ext cx="11097459" cy="1586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>
                <a:solidFill>
                  <a:srgbClr val="000000"/>
                </a:solidFill>
                <a:latin typeface="Times New Roman"/>
              </a:rPr>
              <a:t>3. Price of the diamond based on clarity and cut</a:t>
            </a:r>
          </a:p>
          <a:p>
            <a:pPr algn="ctr">
              <a:lnSpc>
                <a:spcPts val="6020"/>
              </a:lnSpc>
              <a:spcBef>
                <a:spcPct val="0"/>
              </a:spcBef>
            </a:pPr>
            <a:endParaRPr lang="en-US" sz="430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816233" y="2453476"/>
            <a:ext cx="15942005" cy="4239895"/>
          </a:xfrm>
          <a:custGeom>
            <a:avLst/>
            <a:gdLst/>
            <a:ahLst/>
            <a:cxnLst/>
            <a:rect l="l" t="t" r="r" b="b"/>
            <a:pathLst>
              <a:path w="15942005" h="4239895">
                <a:moveTo>
                  <a:pt x="0" y="0"/>
                </a:moveTo>
                <a:lnTo>
                  <a:pt x="15942006" y="0"/>
                </a:lnTo>
                <a:lnTo>
                  <a:pt x="15942006" y="4239895"/>
                </a:lnTo>
                <a:lnTo>
                  <a:pt x="0" y="42398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13193644" cy="176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Splitting the dataset into training and test data</a:t>
            </a:r>
          </a:p>
          <a:p>
            <a:pPr algn="ctr">
              <a:lnSpc>
                <a:spcPts val="6720"/>
              </a:lnSpc>
            </a:pPr>
            <a:endParaRPr lang="en-US" sz="480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438960" y="7065899"/>
            <a:ext cx="5410081" cy="689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Splitting the dataset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01067" y="2097490"/>
            <a:ext cx="13316279" cy="6245969"/>
          </a:xfrm>
          <a:custGeom>
            <a:avLst/>
            <a:gdLst/>
            <a:ahLst/>
            <a:cxnLst/>
            <a:rect l="l" t="t" r="r" b="b"/>
            <a:pathLst>
              <a:path w="13316279" h="6245969">
                <a:moveTo>
                  <a:pt x="0" y="0"/>
                </a:moveTo>
                <a:lnTo>
                  <a:pt x="13316279" y="0"/>
                </a:lnTo>
                <a:lnTo>
                  <a:pt x="13316279" y="6245969"/>
                </a:lnTo>
                <a:lnTo>
                  <a:pt x="0" y="6245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15088646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Building Predictive model Random forest Regressor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68752" y="8813800"/>
            <a:ext cx="9344263" cy="689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Random Forest building and evaluation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561149" y="1830677"/>
            <a:ext cx="11970912" cy="6779595"/>
          </a:xfrm>
          <a:custGeom>
            <a:avLst/>
            <a:gdLst/>
            <a:ahLst/>
            <a:cxnLst/>
            <a:rect l="l" t="t" r="r" b="b"/>
            <a:pathLst>
              <a:path w="11970912" h="6779595">
                <a:moveTo>
                  <a:pt x="0" y="0"/>
                </a:moveTo>
                <a:lnTo>
                  <a:pt x="11970912" y="0"/>
                </a:lnTo>
                <a:lnTo>
                  <a:pt x="11970912" y="6779595"/>
                </a:lnTo>
                <a:lnTo>
                  <a:pt x="0" y="67795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95494" y="838200"/>
            <a:ext cx="14436566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Building Predictive model- Decision Tree Regressor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69200" y="8842058"/>
            <a:ext cx="8954810" cy="68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Decision Tree building and evaluation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471964" y="1876114"/>
            <a:ext cx="13834161" cy="6688721"/>
          </a:xfrm>
          <a:custGeom>
            <a:avLst/>
            <a:gdLst/>
            <a:ahLst/>
            <a:cxnLst/>
            <a:rect l="l" t="t" r="r" b="b"/>
            <a:pathLst>
              <a:path w="13834161" h="6688721">
                <a:moveTo>
                  <a:pt x="0" y="0"/>
                </a:moveTo>
                <a:lnTo>
                  <a:pt x="13834161" y="0"/>
                </a:lnTo>
                <a:lnTo>
                  <a:pt x="13834161" y="6688721"/>
                </a:lnTo>
                <a:lnTo>
                  <a:pt x="0" y="6688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838200"/>
            <a:ext cx="5577245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36322" lvl="1" indent="-518161" algn="ctr">
              <a:lnSpc>
                <a:spcPts val="6720"/>
              </a:lnSpc>
              <a:buFont typeface="Arial"/>
              <a:buChar char="•"/>
            </a:pPr>
            <a:r>
              <a:rPr lang="en-US" sz="4800">
                <a:solidFill>
                  <a:srgbClr val="000000"/>
                </a:solidFill>
                <a:latin typeface="Times New Roman"/>
              </a:rPr>
              <a:t>Model Prediction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100234" y="8842058"/>
            <a:ext cx="8577620" cy="68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000000"/>
                </a:solidFill>
                <a:latin typeface="Times New Roman"/>
              </a:rPr>
              <a:t>Figure: Prediction of Random Forest model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45045" y="0"/>
            <a:ext cx="2273981" cy="10440948"/>
          </a:xfrm>
          <a:custGeom>
            <a:avLst/>
            <a:gdLst/>
            <a:ahLst/>
            <a:cxnLst/>
            <a:rect l="l" t="t" r="r" b="b"/>
            <a:pathLst>
              <a:path w="2273981" h="10440948">
                <a:moveTo>
                  <a:pt x="0" y="0"/>
                </a:moveTo>
                <a:lnTo>
                  <a:pt x="2273982" y="0"/>
                </a:lnTo>
                <a:lnTo>
                  <a:pt x="2273982" y="10440948"/>
                </a:lnTo>
                <a:lnTo>
                  <a:pt x="0" y="104409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7156" t="-10574" r="-10487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71117" y="828675"/>
            <a:ext cx="4657487" cy="991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>
                <a:solidFill>
                  <a:srgbClr val="000000"/>
                </a:solidFill>
                <a:latin typeface="Times New Roman Bold"/>
              </a:rPr>
              <a:t>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28937" y="1939106"/>
            <a:ext cx="16230600" cy="7757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4" lvl="1" indent="-474982" algn="just">
              <a:lnSpc>
                <a:spcPts val="6820"/>
              </a:lnSpc>
              <a:buFont typeface="Arial"/>
              <a:buChar char="•"/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The proposed method will predict the the price of diamond based on its features and other parameters. </a:t>
            </a:r>
          </a:p>
          <a:p>
            <a:pPr marL="949964" lvl="1" indent="-474982" algn="just">
              <a:lnSpc>
                <a:spcPts val="6820"/>
              </a:lnSpc>
              <a:buFont typeface="Arial"/>
              <a:buChar char="•"/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Machine learning presents a promising avenue for diamond price prediction, offering the potential to extract insights from vast datasets and improve forecasting accuracy. </a:t>
            </a:r>
          </a:p>
          <a:p>
            <a:pPr marL="949964" lvl="1" indent="-474982" algn="just">
              <a:lnSpc>
                <a:spcPts val="6820"/>
              </a:lnSpc>
              <a:buFont typeface="Arial"/>
              <a:buChar char="•"/>
            </a:pPr>
            <a:r>
              <a:rPr lang="en-US" sz="4400">
                <a:solidFill>
                  <a:srgbClr val="000000"/>
                </a:solidFill>
                <a:latin typeface="Times New Roman"/>
              </a:rPr>
              <a:t>By leveraging techniques such as decision trees, random forest machine learning models can capture complex patterns in diamond pricing data that traditional methods might overlook.</a:t>
            </a:r>
          </a:p>
          <a:p>
            <a:pPr algn="just">
              <a:lnSpc>
                <a:spcPts val="6820"/>
              </a:lnSpc>
            </a:pPr>
            <a:endParaRPr lang="en-US" sz="440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551</Words>
  <Application>Microsoft Office PowerPoint</Application>
  <PresentationFormat>Custom</PresentationFormat>
  <Paragraphs>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Times New Roman</vt:lpstr>
      <vt:lpstr>Times New Roman Bold</vt:lpstr>
      <vt:lpstr>Arial</vt:lpstr>
      <vt:lpstr>Cambria</vt:lpstr>
      <vt:lpstr>Agrandir Wide Thin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Gradient Monotone Minimalist Presentation Template</dc:title>
  <cp:lastModifiedBy>zetacoding is</cp:lastModifiedBy>
  <cp:revision>4</cp:revision>
  <dcterms:created xsi:type="dcterms:W3CDTF">2006-08-16T00:00:00Z</dcterms:created>
  <dcterms:modified xsi:type="dcterms:W3CDTF">2024-10-26T04:26:02Z</dcterms:modified>
  <dc:identifier>DAF9yFfp9hw</dc:identifier>
</cp:coreProperties>
</file>